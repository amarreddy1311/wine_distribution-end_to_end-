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🍷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BresCome Barton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0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Documentation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841248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97180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718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2971800"/>
            <a:ext cx="2679192" cy="320040"/>
          </a:xfrm>
          <a:prstGeom prst="roundRect">
            <a:avLst>
              <a:gd name="adj" fmla="val 14286"/>
            </a:avLst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2971800"/>
            <a:ext cx="2679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36592" y="2971800"/>
            <a:ext cx="2574036" cy="320040"/>
          </a:xfrm>
          <a:prstGeom prst="roundRect">
            <a:avLst>
              <a:gd name="adj" fmla="val 14286"/>
            </a:avLst>
          </a:prstGeom>
          <a:solidFill>
            <a:srgbClr val="2A5FA8"/>
          </a:solidFill>
          <a:ln w="12700">
            <a:solidFill>
              <a:srgbClr val="2A5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971800"/>
            <a:ext cx="25740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· Kimball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47788" y="2971800"/>
            <a:ext cx="2994660" cy="320040"/>
          </a:xfrm>
          <a:prstGeom prst="roundRect">
            <a:avLst>
              <a:gd name="adj" fmla="val 14286"/>
            </a:avLst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47788" y="2971800"/>
            <a:ext cx="29946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· Stored Procedures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1920240" cy="9144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566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576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4600" y="3520440"/>
            <a:ext cx="1920240" cy="9144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3566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16,292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51460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520440"/>
            <a:ext cx="1920240" cy="9144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566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66344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Layers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3520440"/>
            <a:ext cx="1920240" cy="9144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12280" y="3566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1228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Objects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" y="47548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BresCome Barton Inc. · BresCome_DW · SQL Server SQLEXPRESS01 · Jan 2024 – Dec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6858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68580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051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3350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background, tech stack, and warehouse goals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4206240" cy="6858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10512"/>
            <a:ext cx="502920" cy="68580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1051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18562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21396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 layer design and rules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4206240" cy="6858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15184"/>
            <a:ext cx="502920" cy="68580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15184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26609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2944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CSV to analytics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419856"/>
            <a:ext cx="4206240" cy="6858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502920" cy="68580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34655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Source-to-Target Mapping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3749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CSVs mapped across all 3 layers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4224528"/>
            <a:ext cx="4206240" cy="6858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224528"/>
            <a:ext cx="502920" cy="68580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24528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" y="42702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(Gold Layer)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" y="45537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dimensions + 3 facts with surrogate keys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1005840"/>
            <a:ext cx="4206240" cy="6858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005840"/>
            <a:ext cx="502920" cy="68580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0058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13248" y="1051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13248" y="13350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columns, procedures — all layers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1810512"/>
            <a:ext cx="4206240" cy="6858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1810512"/>
            <a:ext cx="502920" cy="68580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81051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13248" y="18562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13248" y="21396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documentation for Gold layer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46320" y="2615184"/>
            <a:ext cx="4206240" cy="6858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2615184"/>
            <a:ext cx="502920" cy="68580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615184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13248" y="26609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13248" y="2944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validation rules and expected results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46320" y="3419856"/>
            <a:ext cx="4206240" cy="6858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419856"/>
            <a:ext cx="502920" cy="68580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419856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413248" y="34655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Order &amp; File Inventory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13248" y="3749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execute the full pipeline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Brescome Barton Inc. is the largest wholesale distributor of spirits, wine, and beer in Connecticut (~$348M revenue, ~200 employees, North Haven CT). This warehouse centralises sales performance, supplier incentive programs, and transaction data into a single analytics-ready platform.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2606040" cy="1188720"/>
          </a:xfrm>
          <a:prstGeom prst="rect">
            <a:avLst/>
          </a:prstGeom>
          <a:solidFill>
            <a:srgbClr val="252525"/>
          </a:solidFill>
          <a:ln w="12700">
            <a:solidFill>
              <a:srgbClr val="CD7F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45920"/>
            <a:ext cx="2606040" cy="7315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BRONZE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ingestion. All columns NVARCHAR. 8 tables. BULK INSERT from CSV. Audit column only.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645920"/>
            <a:ext cx="2606040" cy="1188720"/>
          </a:xfrm>
          <a:prstGeom prst="rect">
            <a:avLst/>
          </a:prstGeom>
          <a:solidFill>
            <a:srgbClr val="252525"/>
          </a:solidFill>
          <a:ln w="12700">
            <a:solidFill>
              <a:srgbClr val="8A9B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645920"/>
            <a:ext cx="2606040" cy="7315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783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SILVER LAYER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208483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 + typed. INT/DATE/DECIMAL/BIT enforced. Deduplication. Null handling. Validation flags.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645920"/>
            <a:ext cx="2606040" cy="1188720"/>
          </a:xfrm>
          <a:prstGeom prst="rect">
            <a:avLst/>
          </a:prstGeom>
          <a:solidFill>
            <a:srgbClr val="252525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645920"/>
            <a:ext cx="260604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783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GOLD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208483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views. 6 dims + 3 facts. Surrogate keys. Business logic. Power BI / Tableau ready.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2606040" cy="1188720"/>
          </a:xfrm>
          <a:prstGeom prst="rect">
            <a:avLst/>
          </a:prstGeom>
          <a:solidFill>
            <a:srgbClr val="252525"/>
          </a:solidFill>
          <a:ln w="12700">
            <a:solidFill>
              <a:srgbClr val="1E8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17520"/>
            <a:ext cx="2606040" cy="73152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54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SOURCE DATA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45643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CSV files · 16,292 rows. Sales reps, suppliers, products, accounts, programs, transactions.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3017520"/>
            <a:ext cx="2606040" cy="1188720"/>
          </a:xfrm>
          <a:prstGeom prst="rect">
            <a:avLst/>
          </a:prstGeom>
          <a:solidFill>
            <a:srgbClr val="252525"/>
          </a:solidFill>
          <a:ln w="12700">
            <a:solidFill>
              <a:srgbClr val="2A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017520"/>
            <a:ext cx="2606040" cy="73152"/>
          </a:xfrm>
          <a:prstGeom prst="rect">
            <a:avLst/>
          </a:prstGeom>
          <a:solidFill>
            <a:srgbClr val="2A5FA8"/>
          </a:solidFill>
          <a:ln w="12700">
            <a:solidFill>
              <a:srgbClr val="2A5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154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DATE RANGE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45643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 – Dec 2025. Two years daily transactions with holiday and summer seasonal patterns.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3017520"/>
            <a:ext cx="2606040" cy="1188720"/>
          </a:xfrm>
          <a:prstGeom prst="rect">
            <a:avLst/>
          </a:prstGeom>
          <a:solidFill>
            <a:srgbClr val="252525"/>
          </a:solidFill>
          <a:ln w="12700">
            <a:solidFill>
              <a:srgbClr val="8B1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017520"/>
            <a:ext cx="2606040" cy="73152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154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TECH STACK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345643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SQLEXPRESS01 · T-SQL · SSMS · Stored Procedures · Views · Medallion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MEDALLION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931920"/>
          </a:xfrm>
          <a:prstGeom prst="rect">
            <a:avLst/>
          </a:prstGeom>
          <a:solidFill>
            <a:srgbClr val="252525"/>
          </a:solidFill>
          <a:ln w="12700">
            <a:solidFill>
              <a:srgbClr val="CD7F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548640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 BRONZE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schema: bronze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type: Physical Tables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54864" cy="54864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17627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as-is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560320"/>
            <a:ext cx="54864" cy="54864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49631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transformations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880360"/>
            <a:ext cx="54864" cy="54864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81635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Audit: dwh_create_date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200400"/>
            <a:ext cx="54864" cy="54864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1363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source tables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520440"/>
            <a:ext cx="54864" cy="54864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45643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16,292 source rows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71800" y="2743200"/>
            <a:ext cx="228600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914400"/>
            <a:ext cx="2743200" cy="3931920"/>
          </a:xfrm>
          <a:prstGeom prst="rect">
            <a:avLst/>
          </a:prstGeom>
          <a:solidFill>
            <a:srgbClr val="252525"/>
          </a:solidFill>
          <a:ln w="12700">
            <a:solidFill>
              <a:srgbClr val="8A9B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914400"/>
            <a:ext cx="2743200" cy="54864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914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 SILVER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91840" y="15727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schema: silver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1874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type: Physical Tables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2240280"/>
            <a:ext cx="54864" cy="54864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217627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 (TRY_CAST)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91840" y="2560320"/>
            <a:ext cx="54864" cy="54864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249631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LTRIM/RTRIM trim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2880360"/>
            <a:ext cx="54864" cy="54864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1568" y="281635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dedup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0" y="3200400"/>
            <a:ext cx="54864" cy="54864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31363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 null handling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3520440"/>
            <a:ext cx="54864" cy="54864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345643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 is_valid, flag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52160" y="2743200"/>
            <a:ext cx="228600" cy="5486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914400"/>
            <a:ext cx="2743200" cy="3931920"/>
          </a:xfrm>
          <a:prstGeom prst="rect">
            <a:avLst/>
          </a:prstGeom>
          <a:solidFill>
            <a:srgbClr val="252525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914400"/>
            <a:ext cx="2743200" cy="5486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914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GOLD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72200" y="15727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schema: gold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1874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type: Views (no tables)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72200" y="2240280"/>
            <a:ext cx="54864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81928" y="217627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keys (ROW_NUMBER)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72200" y="2560320"/>
            <a:ext cx="54864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81928" y="249631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Dimensions + 3 Facts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72200" y="2880360"/>
            <a:ext cx="54864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81928" y="281635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derived cols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72200" y="3200400"/>
            <a:ext cx="54864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81928" y="31363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/ Kimball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72200" y="3520440"/>
            <a:ext cx="54864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81928" y="345643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Tableau ready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DATA FLOW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640080" cy="6583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2435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05840" y="914400"/>
            <a:ext cx="7772400" cy="658368"/>
          </a:xfrm>
          <a:prstGeom prst="rect">
            <a:avLst/>
          </a:prstGeom>
          <a:solidFill>
            <a:srgbClr val="252525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14400"/>
            <a:ext cx="54864" cy="6583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9601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CSV Source Files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1887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01_sales_reps · 02_suppliers · 03_products · 04_accounts · 05_supplier_programs · 06_sales_transactions · 07_rep_quota_actuals · 08_program_attainments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040880" y="10789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C:\BresCome_DW\datasets\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7784" y="1572768"/>
            <a:ext cx="54864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19072"/>
            <a:ext cx="640080" cy="658368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71907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20482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05840" y="1719072"/>
            <a:ext cx="7772400" cy="658368"/>
          </a:xfrm>
          <a:prstGeom prst="rect">
            <a:avLst/>
          </a:prstGeom>
          <a:solidFill>
            <a:srgbClr val="252525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1719072"/>
            <a:ext cx="54864" cy="658368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17647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bronze.load_bronze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199339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INSERT reads CSVs → 8 bronze tables. All NVARCHAR. dwh_create_date = GETDATE(). Truncate + Insert. Permission: NT Service\MSSQL$SQLEXPRESS01 needs Read on folder.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040880" y="18836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~16,292 rows loaded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7784" y="2377440"/>
            <a:ext cx="54864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523744"/>
            <a:ext cx="640080" cy="658368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52374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" y="28529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05840" y="2523744"/>
            <a:ext cx="7772400" cy="658368"/>
          </a:xfrm>
          <a:prstGeom prst="rect">
            <a:avLst/>
          </a:prstGeom>
          <a:solidFill>
            <a:srgbClr val="252525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2523744"/>
            <a:ext cx="54864" cy="658368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256946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silver.load_silver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279806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Layer 1: TRY_CAST types · LTRIM/RTRIM · ROW_NUMBER() dedup · COALESCE nulls · Channel/status standardization · Derived columns (performance_flag, is_valid). Truncate + Insert.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040880" y="26883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tables transformed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" y="3182112"/>
            <a:ext cx="54864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328416"/>
            <a:ext cx="640080" cy="6583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32841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🥇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74320" y="3657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005840" y="3328416"/>
            <a:ext cx="7772400" cy="658368"/>
          </a:xfrm>
          <a:prstGeom prst="rect">
            <a:avLst/>
          </a:prstGeom>
          <a:solidFill>
            <a:srgbClr val="25252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3328416"/>
            <a:ext cx="54864" cy="6583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337413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ddl_gold.sql (once)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" y="360273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VIEWS: 6 dim views + 3 fact views on top of silver. Surrogate keys via ROW_NUMBER(). Business logic applied. Always fresh — no load step needed after initial creation.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40880" y="3493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Gold objects created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7784" y="3986784"/>
            <a:ext cx="54864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133088"/>
            <a:ext cx="640080" cy="658368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13308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74320" y="44622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005840" y="4133088"/>
            <a:ext cx="7772400" cy="658368"/>
          </a:xfrm>
          <a:prstGeom prst="rect">
            <a:avLst/>
          </a:prstGeom>
          <a:solidFill>
            <a:srgbClr val="252525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5840" y="4133088"/>
            <a:ext cx="54864" cy="658368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417880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Tableau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43000" y="440740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BresCome_DW · schema: gold. Set relationships using surrogate keys. All measures and derived columns pre-built. Import or DirectQuery both supported.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040880" y="4297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ready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SOURCE-TO-TARGET MAPPING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011680" cy="347472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CSV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40280" y="914400"/>
            <a:ext cx="2011680" cy="347472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914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Table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914400"/>
            <a:ext cx="2011680" cy="347472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914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Table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355080" y="914400"/>
            <a:ext cx="1645920" cy="347472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914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Object(s)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28432" y="914400"/>
            <a:ext cx="777240" cy="347472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74152" y="91440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1298448"/>
            <a:ext cx="8622792" cy="36576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" y="1353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01_sales_reps.csv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95144" y="1353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bronze.sales_reps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52544" y="1353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silver.sales_reps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9944" y="13533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dim_reps · fact_quota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83296" y="13533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1691640"/>
            <a:ext cx="8622792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" y="17465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02_suppliers.csv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95144" y="17465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bronze.suppliers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52544" y="17465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silver.suppliers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9944" y="17465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dim_suppliers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83296" y="1746504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2084832"/>
            <a:ext cx="8622792" cy="36576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21396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03_products.csv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95144" y="21396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bronze.products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52544" y="21396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silver.products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9944" y="213969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dim_products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83296" y="213969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2880" y="2478024"/>
            <a:ext cx="8622792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" y="25328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04_accounts.csv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95144" y="25328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bronze.accounts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52544" y="25328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silver.accounts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9944" y="25328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dim_accounts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83296" y="253288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" y="2871216"/>
            <a:ext cx="8622792" cy="36576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926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05_supplier_programs.csv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295144" y="2926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bronze.supplier_programs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52544" y="2926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silver.supplier_programs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9944" y="29260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dim_programs · fact_att.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83296" y="29260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2880" y="3264408"/>
            <a:ext cx="8622792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7744" y="3319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06_sales_transactions.csv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295144" y="3319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bronze.sales_transactions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352544" y="3319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silver.sales_transactions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09944" y="3319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fact_sales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83296" y="331927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15,000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82880" y="3657600"/>
            <a:ext cx="8622792" cy="36576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7744" y="37124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07_rep_quota_actuals.csv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295144" y="37124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bronze.rep_quota_actuals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352544" y="37124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silver.rep_quota_actuals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09944" y="37124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fact_quota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83296" y="3712464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360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82880" y="4050792"/>
            <a:ext cx="8622792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7744" y="41056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08_program_attainments.csv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295144" y="41056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bronze.program_attainments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352544" y="41056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silver.program_attainments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09944" y="41056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fact_attainment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083296" y="410565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519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82880" y="4443984"/>
            <a:ext cx="8622792" cy="36576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7744" y="44988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(computed — no source)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295144" y="44988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352544" y="44988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409944" y="44988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dim_date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083296" y="449884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STAR SCHEMA — GOLD LAYER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2011680"/>
            <a:ext cx="2743200" cy="2560320"/>
          </a:xfrm>
          <a:prstGeom prst="rect">
            <a:avLst/>
          </a:prstGeom>
          <a:solidFill>
            <a:srgbClr val="252525"/>
          </a:solidFill>
          <a:ln w="12700">
            <a:solidFill>
              <a:srgbClr val="8B1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0" y="2011680"/>
            <a:ext cx="2743200" cy="384048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20116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fact_sales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24505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txn_id (DK)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46120" y="277063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rep_key →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46120" y="309067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account_key →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46120" y="34107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product_key →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46120" y="37307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supplier_key →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46120" y="4050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order_date →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0" y="24505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8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cases_sold (M)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0" y="277063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8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revenue_usd (M)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72000" y="309067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8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discount_usd (M)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0" y="34107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8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gross_revenue_usd (M)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572000" y="37307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8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revenue_per_case (M)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72000" y="4050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8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est_margin_usd (M)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37160" y="868680"/>
            <a:ext cx="2560320" cy="2249424"/>
          </a:xfrm>
          <a:prstGeom prst="rect">
            <a:avLst/>
          </a:prstGeom>
          <a:solidFill>
            <a:srgbClr val="252525"/>
          </a:solidFill>
          <a:ln w="12700">
            <a:solidFill>
              <a:srgbClr val="2A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7160" y="868680"/>
            <a:ext cx="2560320" cy="320040"/>
          </a:xfrm>
          <a:prstGeom prst="rect">
            <a:avLst/>
          </a:prstGeom>
          <a:solidFill>
            <a:srgbClr val="2A5FA8"/>
          </a:solidFill>
          <a:ln w="12700">
            <a:solidFill>
              <a:srgbClr val="2A5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" y="868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dim_reps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" y="12344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rep_key (SK)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8600" y="144475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rep_name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28600" y="165506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division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8600" y="186537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channel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8600" y="20756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hire_date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8600" y="22860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years_tenure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0" y="868680"/>
            <a:ext cx="2560320" cy="2039112"/>
          </a:xfrm>
          <a:prstGeom prst="rect">
            <a:avLst/>
          </a:prstGeom>
          <a:solidFill>
            <a:srgbClr val="252525"/>
          </a:solidFill>
          <a:ln w="12700">
            <a:solidFill>
              <a:srgbClr val="2A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868680"/>
            <a:ext cx="2560320" cy="320040"/>
          </a:xfrm>
          <a:prstGeom prst="rect">
            <a:avLst/>
          </a:prstGeom>
          <a:solidFill>
            <a:srgbClr val="2A5FA8"/>
          </a:solidFill>
          <a:ln w="12700">
            <a:solidFill>
              <a:srgbClr val="2A5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868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12344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full_date (NK)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91840" y="144475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year / month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91840" y="165506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quarter_label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91840" y="186537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season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91840" y="20756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is_weekend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63640" y="868680"/>
            <a:ext cx="2560320" cy="2039112"/>
          </a:xfrm>
          <a:prstGeom prst="rect">
            <a:avLst/>
          </a:prstGeom>
          <a:solidFill>
            <a:srgbClr val="252525"/>
          </a:solidFill>
          <a:ln w="12700">
            <a:solidFill>
              <a:srgbClr val="2A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63640" y="868680"/>
            <a:ext cx="2560320" cy="320040"/>
          </a:xfrm>
          <a:prstGeom prst="rect">
            <a:avLst/>
          </a:prstGeom>
          <a:solidFill>
            <a:srgbClr val="2A5FA8"/>
          </a:solidFill>
          <a:ln w="12700">
            <a:solidFill>
              <a:srgbClr val="2A5F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6792" y="868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dim_accounts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12344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account_key (SK)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55080" y="144475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account_name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55080" y="165506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channel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55080" y="186537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town / state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55080" y="20756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account_status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37160" y="3474720"/>
            <a:ext cx="2560320" cy="2039112"/>
          </a:xfrm>
          <a:prstGeom prst="rect">
            <a:avLst/>
          </a:prstGeom>
          <a:solidFill>
            <a:srgbClr val="252525"/>
          </a:solidFill>
          <a:ln w="12700">
            <a:solidFill>
              <a:srgbClr val="2A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37160" y="3474720"/>
            <a:ext cx="2560320" cy="320040"/>
          </a:xfrm>
          <a:prstGeom prst="rect">
            <a:avLst/>
          </a:prstGeom>
          <a:solidFill>
            <a:srgbClr val="2A5FA8"/>
          </a:solidFill>
          <a:ln w="12700">
            <a:solidFill>
              <a:srgbClr val="2A5F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0312" y="3474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28600" y="38404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product_key (SK)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28600" y="405079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product_name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28600" y="426110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category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28600" y="447141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price_tier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28600" y="468172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sub_category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63640" y="3474720"/>
            <a:ext cx="2560320" cy="2039112"/>
          </a:xfrm>
          <a:prstGeom prst="rect">
            <a:avLst/>
          </a:prstGeom>
          <a:solidFill>
            <a:srgbClr val="252525"/>
          </a:solidFill>
          <a:ln w="12700">
            <a:solidFill>
              <a:srgbClr val="2A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63640" y="3474720"/>
            <a:ext cx="2560320" cy="320040"/>
          </a:xfrm>
          <a:prstGeom prst="rect">
            <a:avLst/>
          </a:prstGeom>
          <a:solidFill>
            <a:srgbClr val="2A5FA8"/>
          </a:solidFill>
          <a:ln w="12700">
            <a:solidFill>
              <a:srgbClr val="2A5FA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36792" y="3474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dim_suppliers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55080" y="38404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supplier_key (SK)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355080" y="405079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supplier_name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355080" y="426110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category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355080" y="447141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country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355080" y="468172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origin_type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200400" y="4114800"/>
            <a:ext cx="2560320" cy="2039112"/>
          </a:xfrm>
          <a:prstGeom prst="rect">
            <a:avLst/>
          </a:prstGeom>
          <a:solidFill>
            <a:srgbClr val="252525"/>
          </a:solidFill>
          <a:ln w="12700">
            <a:solidFill>
              <a:srgbClr val="2A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200400" y="4114800"/>
            <a:ext cx="2560320" cy="320040"/>
          </a:xfrm>
          <a:prstGeom prst="rect">
            <a:avLst/>
          </a:prstGeom>
          <a:solidFill>
            <a:srgbClr val="2A5FA8"/>
          </a:solidFill>
          <a:ln w="12700">
            <a:solidFill>
              <a:srgbClr val="2A5FA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73552" y="4114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dim_programs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291840" y="44805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program_key (SK)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291840" y="469087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program_type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291840" y="490118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quarter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291840" y="511149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goal_value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291840" y="532180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bonus_usd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NAMING CONVENTIONS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256032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252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1A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bronze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103120" y="12252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Raw ingestion layer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977640" y="12252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Physical Tables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0" y="122529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as-is from CSV source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444752"/>
            <a:ext cx="859536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48132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1A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silver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03120" y="14813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Cleansed/typed layer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77640" y="14813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Physical Tables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0" y="14813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Transformed, validated data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700784"/>
            <a:ext cx="8595360" cy="256032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7373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1A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0312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Analytics layer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97764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Views only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52160" y="17373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 schema for BI tools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029968"/>
            <a:ext cx="8595360" cy="274320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029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VIEW NAMES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304288"/>
            <a:ext cx="8595360" cy="256032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34086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8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bronze.{entity}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03120" y="2340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bronze.sales_reps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977640" y="2340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Mirror CSV filename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52160" y="234086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Plural snake_case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2560320"/>
            <a:ext cx="859536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5968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8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silver.{entity}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03120" y="25968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silver.sales_reps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977640" y="25968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Same as bronze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52160" y="259689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shown by schema only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2816352"/>
            <a:ext cx="8595360" cy="256032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85292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8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gold.dim_{entity}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103120" y="28529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gold.dim_reps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977640" y="28529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Dimension views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52160" y="28529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Prefix dim_ always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072384"/>
            <a:ext cx="859536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1089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8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gold.fact_{entity}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103120" y="3108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gold.fact_sales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977640" y="3108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Fact views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52160" y="31089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Prefix fact_ always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401568"/>
            <a:ext cx="8595360" cy="274320"/>
          </a:xfrm>
          <a:prstGeom prst="rect">
            <a:avLst/>
          </a:prstGeom>
          <a:solidFill>
            <a:srgbClr val="2A5FA8"/>
          </a:solidFill>
          <a:ln w="12700">
            <a:solidFill>
              <a:srgbClr val="2A5F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401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PATTERNS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3675888"/>
            <a:ext cx="8595360" cy="256032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71246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{entity}_id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103120" y="37124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rep_id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977640" y="37124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Bronze + Silver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852160" y="371246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Natural key from source system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3931920"/>
            <a:ext cx="859536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39684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{entity}_key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103120" y="39684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rep_key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977640" y="39684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 only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52160" y="396849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Surrogate key — ROW_NUMBER()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4187952"/>
            <a:ext cx="8595360" cy="256032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22452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{entity}_src_id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103120" y="4224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rep_src_id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977640" y="4224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 only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852160" y="42245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Retained source ID for lineage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74320" y="4443984"/>
            <a:ext cx="859536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44805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is_{flag}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103120" y="4480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is_active, is_valid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977640" y="4480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Silver + Gold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852160" y="44805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BIT type boolean columns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4700016"/>
            <a:ext cx="8595360" cy="256032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473659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dwh_create_date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103120" y="4736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dwh_create_date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977640" y="4736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layers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852160" y="473659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Audit — GETDATE() on load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956048"/>
            <a:ext cx="859536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0040" y="499262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{measure}_usd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2103120" y="499262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revenue_usd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977640" y="499262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layers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852160" y="499262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Currency — suffixed with unit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74320" y="5212080"/>
            <a:ext cx="8595360" cy="256032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524865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{measure}_pct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2103120" y="524865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attainment_pct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3977640" y="524865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layers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852160" y="524865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Percentage columns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DATA CATALOG — gold.fact_sales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fact table · ~15,000 rows · One row per transaction · Grain: one case-level sale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1170432"/>
            <a:ext cx="1554480" cy="27432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704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83080" y="1170432"/>
            <a:ext cx="731520" cy="27432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1704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1170432"/>
            <a:ext cx="502920" cy="27432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1704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0" y="1170432"/>
            <a:ext cx="5303520" cy="27432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1704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1481328"/>
            <a:ext cx="8229600" cy="2286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508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txn_id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28800" y="15087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06040" y="1508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54680" y="150876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Degenerate dimension key — transaction identifier from source system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1723644"/>
            <a:ext cx="8229600" cy="228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175107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rep_key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28800" y="175107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BIGINT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06040" y="175107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54680" y="1751076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Foreign key to gold.dim_reps.rep_key — identifies the selling rep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2880" y="1965960"/>
            <a:ext cx="8229600" cy="2286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19933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account_key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828800" y="1993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BIGINT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06040" y="199339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54680" y="1993392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Foreign key to gold.dim_accounts.account_key — the customer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2208276"/>
            <a:ext cx="8229600" cy="228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2357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product_key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828800" y="22357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BIGINT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06040" y="22357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154680" y="2235708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Foreign key to gold.dim_products.product_key — SKU sold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2880" y="2450592"/>
            <a:ext cx="8229600" cy="2286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247802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supplier_key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828800" y="247802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BIGINT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606040" y="247802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54680" y="2478024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Foreign key to gold.dim_suppliers.supplier_key — brand house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" y="2692908"/>
            <a:ext cx="8229600" cy="228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27203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order_date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828800" y="27203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606040" y="27203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154680" y="272034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Transaction date — join to gold.dim_date.full_date for calendar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82880" y="2935224"/>
            <a:ext cx="8229600" cy="2286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296265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cases_sold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828800" y="296265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606040" y="29626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154680" y="2962656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Number of cases sold in this transaction. Core volume measure.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82880" y="3177540"/>
            <a:ext cx="8229600" cy="228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32049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revenue_usd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828800" y="32049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DECIMAL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606040" y="32049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154680" y="3204972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 revenue after discount applied. Primary revenue measure.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82880" y="3419856"/>
            <a:ext cx="8229600" cy="2286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" y="344728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discount_pct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828800" y="34472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DECIMAL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606040" y="34472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154680" y="3447288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Discount percentage (0–100). 0 = no discount given.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82880" y="3662172"/>
            <a:ext cx="8229600" cy="228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368960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gross_revenue_usd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828800" y="368960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DECIMAL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606040" y="368960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DRV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154680" y="3689604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Derived: cases_sold × list price before discount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82880" y="3904488"/>
            <a:ext cx="8229600" cy="2286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39319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discount_usd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828800" y="39319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DECIMAL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606040" y="39319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DRV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154680" y="393192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Derived: gross_revenue × (discount_pct / 100). Dollar value of discount.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82880" y="4146804"/>
            <a:ext cx="8229600" cy="228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" y="417423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revenue_per_case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828800" y="417423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DECIMAL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2606040" y="41742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DRV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154680" y="4174236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Derived: revenue_usd / cases_sold. Net revenue per case.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182880" y="4389120"/>
            <a:ext cx="8229600" cy="2286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28600" y="441655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estimated_margin_usd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828800" y="44165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DECIMAL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2606040" y="44165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DRV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3154680" y="4416552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Derived: revenue_usd × 0.30. Proxy gross margin at 30% rate.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182880" y="4631436"/>
            <a:ext cx="8229600" cy="228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8600" y="46588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7F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is_valid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1828800" y="46588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BIT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2606040" y="46588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154680" y="4658868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1=clean record. 0=flagged in Silver (negative revenue/zero cases/null date).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DATA CATALOG — Key Derived Columns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1920240" cy="27432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148840" y="868680"/>
            <a:ext cx="1554480" cy="27432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868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749040" y="868680"/>
            <a:ext cx="2240280" cy="27432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868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/ Logic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35040" y="868680"/>
            <a:ext cx="2743200" cy="27432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868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1170432"/>
            <a:ext cx="8595360" cy="292608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2161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gold.dim_reps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94560" y="12161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years_tenure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94760" y="121615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DATEDIFF(YEAR, hire_date, GETDATE())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080760" y="12161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Filter/group reps by seniority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" y="1490472"/>
            <a:ext cx="859536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5361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gold.dim_accounts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94560" y="15361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account_status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94760" y="153619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is_active WHEN 1 THEN 'Active' ELSE 'Inactive' END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80760" y="15361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Traffic light for account health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1810512"/>
            <a:ext cx="8595360" cy="292608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18562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gold.dim_products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94560" y="18562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price_tier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794760" y="185623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WHEN price&lt;100 THEN 'Value' WHEN &lt;200 'Mid-Range' ...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080760" y="18562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Price band analysis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" y="2130552"/>
            <a:ext cx="859536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1762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gold.dim_suppliers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94560" y="2176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origin_type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94760" y="217627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WHEN country='USA' THEN 'Domestic' ELSE 'Import' END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080760" y="21762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Domestic vs. import split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2880" y="2450592"/>
            <a:ext cx="8595360" cy="292608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24963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gold.dim_programs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94560" y="24963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program_duration_days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794760" y="249631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DATEDIFF(DAY, start_date, end_date) + 1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080760" y="24963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 length analysis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" y="2770632"/>
            <a:ext cx="859536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28163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F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gold.dim_date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194560" y="28163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season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794760" y="281635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WHEN month IN (11,12) 'Holiday' WHEN IN (6-8) 'Summer'...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080760" y="28163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Seasonal trend filtering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82880" y="3090672"/>
            <a:ext cx="8595360" cy="292608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gold.fact_quota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194560" y="3136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ytd_actual_cases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794760" y="313639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SUM(actual_cases) OVER (PARTITION BY rep_id, year ORDER BY month)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080760" y="31363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YTD attainment trend charts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2880" y="3410712"/>
            <a:ext cx="859536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34564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gold.fact_quota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194560" y="34564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performance_flag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794760" y="345643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≥100% → Achieved · 75-99% → At Risk · &lt;75% → Behind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080760" y="34564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Traffic light dashboard KPI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82880" y="3730752"/>
            <a:ext cx="8595360" cy="292608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37764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1A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gold.fact_attainment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194560" y="37764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gap_to_goal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794760" y="377647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goal_value - actual_value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080760" y="37764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far rep still needs to go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82880" y="4050792"/>
            <a:ext cx="859536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" y="40965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1A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gold.fact_attainment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194560" y="40965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bonus_missed_usd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794760" y="409651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program.bonus_usd - bonus_earned_usd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080760" y="40965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Money left on the table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82880" y="4370832"/>
            <a:ext cx="8595360" cy="292608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8600" y="44165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1A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gold.fact_attainment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2194560" y="44165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status_sort_order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794760" y="441655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Achieved=1 · At Risk=2 · Behind=3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080760" y="44165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Correct sort in BI tools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82880" y="4690872"/>
            <a:ext cx="859536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8600" y="4736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1A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gold.fact_sales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2194560" y="47365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estimated_margin_usd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794760" y="473659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revenue_usd × 0.30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080760" y="47365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Proxy GP margin at 30% rate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DATA QUALITY CHECKS  (quality_checks_silver.sql)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after every EXEC silver.load_silver — all checks should return 0 rows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834640" cy="1691640"/>
          </a:xfrm>
          <a:prstGeom prst="rect">
            <a:avLst/>
          </a:prstGeom>
          <a:solidFill>
            <a:srgbClr val="252525"/>
          </a:solidFill>
          <a:ln w="12700">
            <a:solidFill>
              <a:srgbClr val="8B1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2834640" cy="32004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Missing Keys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73152" cy="73152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8191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rep_id in sales_reps = 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73152" cy="73152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82880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txn_date in transactions = 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121408"/>
            <a:ext cx="73152" cy="73152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07568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NULL/zero revenue_usd = 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368296"/>
            <a:ext cx="73152" cy="73152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32257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price_per_case_usd = 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615184"/>
            <a:ext cx="73152" cy="73152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56946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goal_value or bonus_usd = 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0" y="1188720"/>
            <a:ext cx="2834640" cy="1691640"/>
          </a:xfrm>
          <a:prstGeom prst="rect">
            <a:avLst/>
          </a:prstGeom>
          <a:solidFill>
            <a:srgbClr val="252525"/>
          </a:solidFill>
          <a:ln w="12700">
            <a:solidFill>
              <a:srgbClr val="1E8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188720"/>
            <a:ext cx="2834640" cy="320040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188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Keys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1627632"/>
            <a:ext cx="73152" cy="73152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158191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rep_ids = 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37560" y="1874520"/>
            <a:ext cx="73152" cy="73152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182880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txn_ids = 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121408"/>
            <a:ext cx="73152" cy="73152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207568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sku_ids = 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37560" y="2368296"/>
            <a:ext cx="73152" cy="73152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232257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 rep+month in quota = 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72200" y="1188720"/>
            <a:ext cx="2834640" cy="1691640"/>
          </a:xfrm>
          <a:prstGeom prst="rect">
            <a:avLst/>
          </a:prstGeom>
          <a:solidFill>
            <a:srgbClr val="252525"/>
          </a:solidFill>
          <a:ln w="12700">
            <a:solidFill>
              <a:srgbClr val="2A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1188720"/>
            <a:ext cx="2834640" cy="320040"/>
          </a:xfrm>
          <a:prstGeom prst="rect">
            <a:avLst/>
          </a:prstGeom>
          <a:solidFill>
            <a:srgbClr val="2A5FA8"/>
          </a:solidFill>
          <a:ln w="12700">
            <a:solidFill>
              <a:srgbClr val="2A5F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188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Validation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1627632"/>
            <a:ext cx="73152" cy="73152"/>
          </a:xfrm>
          <a:prstGeom prst="rect">
            <a:avLst/>
          </a:prstGeom>
          <a:solidFill>
            <a:srgbClr val="2A5FA8"/>
          </a:solidFill>
          <a:ln w="12700">
            <a:solidFill>
              <a:srgbClr val="2A5F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158191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outside 2024–2025 = 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09360" y="1874520"/>
            <a:ext cx="73152" cy="73152"/>
          </a:xfrm>
          <a:prstGeom prst="rect">
            <a:avLst/>
          </a:prstGeom>
          <a:solidFill>
            <a:srgbClr val="2A5FA8"/>
          </a:solidFill>
          <a:ln w="12700">
            <a:solidFill>
              <a:srgbClr val="2A5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182880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Programs: start_date &gt; end_date = 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09360" y="2121408"/>
            <a:ext cx="73152" cy="73152"/>
          </a:xfrm>
          <a:prstGeom prst="rect">
            <a:avLst/>
          </a:prstGeom>
          <a:solidFill>
            <a:srgbClr val="2A5FA8"/>
          </a:solidFill>
          <a:ln w="12700">
            <a:solidFill>
              <a:srgbClr val="2A5F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207568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hired in future = 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3017520"/>
            <a:ext cx="2834640" cy="1691640"/>
          </a:xfrm>
          <a:prstGeom prst="rect">
            <a:avLst/>
          </a:prstGeom>
          <a:solidFill>
            <a:srgbClr val="252525"/>
          </a:solidFill>
          <a:ln w="12700">
            <a:solidFill>
              <a:srgbClr val="CD7F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28600" y="3017520"/>
            <a:ext cx="2834640" cy="320040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017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456432"/>
            <a:ext cx="73152" cy="7315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" y="341071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= 'On-Premise' or 'Off-Premise' only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3703320"/>
            <a:ext cx="73152" cy="7315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" y="365760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= Wine/Spirits/Wine &amp; Spirits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3950208"/>
            <a:ext cx="73152" cy="7315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" y="390448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performance_flag = 3 values only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4197096"/>
            <a:ext cx="73152" cy="7315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" y="415137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Attainment status = 3 values only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0" y="3017520"/>
            <a:ext cx="2834640" cy="1691640"/>
          </a:xfrm>
          <a:prstGeom prst="rect">
            <a:avLst/>
          </a:prstGeom>
          <a:solidFill>
            <a:srgbClr val="252525"/>
          </a:solidFill>
          <a:ln w="1270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00400" y="3017520"/>
            <a:ext cx="2834640" cy="32004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3017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337560" y="3456432"/>
            <a:ext cx="73152" cy="7315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56432" y="341071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transactions (rep missing) = 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337560" y="3703320"/>
            <a:ext cx="73152" cy="7315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56432" y="365760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accounts (rep missing) = 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337560" y="3950208"/>
            <a:ext cx="73152" cy="7315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56432" y="390448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is_valid=0 transactions reviewed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337560" y="4197096"/>
            <a:ext cx="73152" cy="7315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56432" y="415137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Attainment pct vs actual/goal ±1%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172200" y="3017520"/>
            <a:ext cx="2834640" cy="1691640"/>
          </a:xfrm>
          <a:prstGeom prst="rect">
            <a:avLst/>
          </a:prstGeom>
          <a:solidFill>
            <a:srgbClr val="252525"/>
          </a:solidFill>
          <a:ln w="12700">
            <a:solidFill>
              <a:srgbClr val="8A9B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72200" y="3017520"/>
            <a:ext cx="2834640" cy="32004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63640" y="3017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Validation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309360" y="3456432"/>
            <a:ext cx="73152" cy="7315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28232" y="341071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sales_reps = 15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309360" y="3703320"/>
            <a:ext cx="73152" cy="7315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28232" y="365760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= 25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309360" y="3950208"/>
            <a:ext cx="73152" cy="7315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28232" y="390448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= 185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309360" y="4197096"/>
            <a:ext cx="73152" cy="7315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28232" y="415137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sales_transactions = 15,000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309360" y="4443984"/>
            <a:ext cx="73152" cy="7315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28232" y="439826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program_attainments = 519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1A2A"/>
          </a:solidFill>
          <a:ln w="12700">
            <a:solidFill>
              <a:srgbClr val="8B1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RUN ORDER &amp; FILE INVENTORY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640080" cy="43891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1440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68680" y="914400"/>
            <a:ext cx="79552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9509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init_database.sql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BresCome_DW database + bronze / silver / gold schemas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" y="1353312"/>
            <a:ext cx="54864" cy="640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435608"/>
            <a:ext cx="640080" cy="43891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43560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68680" y="1435608"/>
            <a:ext cx="79552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4721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bronze/ddl_bronze.sql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1664208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8 bronze tables (all NVARCHAR)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" y="1874520"/>
            <a:ext cx="54864" cy="640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1956816"/>
            <a:ext cx="640080" cy="43891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1956816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68680" y="1956816"/>
            <a:ext cx="79552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19933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silver/ddl_silver.sql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2185416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8 silver tables (typed: INT/DATE/DECIMAL/BIT)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0916" y="2395728"/>
            <a:ext cx="54864" cy="640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478024"/>
            <a:ext cx="640080" cy="43891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2478024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68680" y="2478024"/>
            <a:ext cx="79552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25146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gold/ddl_gold.sql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706624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6 dim views + 3 fact views in gold schema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" y="2916936"/>
            <a:ext cx="54864" cy="640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999232"/>
            <a:ext cx="640080" cy="43891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2999232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68680" y="2999232"/>
            <a:ext cx="79552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30358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bronze.load_bronze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" y="3227832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INSERT CSVs → bronze tables (grant NT Service\MSSQL$SQLEXPRESS01 Read on datasets folder first)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" y="3438144"/>
            <a:ext cx="54864" cy="640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3520440"/>
            <a:ext cx="640080" cy="43891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352044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68680" y="3520440"/>
            <a:ext cx="79552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35570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silver.load_silver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5840" y="3749040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ETL: cast types · trim · dedup · validate · derive columns → silver tables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" y="3959352"/>
            <a:ext cx="54864" cy="640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" y="4041648"/>
            <a:ext cx="640080" cy="438912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404164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68680" y="4041648"/>
            <a:ext cx="79552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" y="40782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quality_checks_silver.sql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05840" y="4270248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manually in SSMS — all queries should return 0 rows or expected values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0916" y="4480560"/>
            <a:ext cx="54864" cy="640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" y="4562856"/>
            <a:ext cx="640080" cy="43891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562856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68680" y="4562856"/>
            <a:ext cx="7955280" cy="438912"/>
          </a:xfrm>
          <a:prstGeom prst="rect">
            <a:avLst/>
          </a:prstGeom>
          <a:solidFill>
            <a:srgbClr val="25252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" y="45994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gold schema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05840" y="4791456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gold.fact_sales / dim_reps / fact_quota / fact_attainment — or connect Power BI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BresCome Barton Data Warehouse Documentation</dc:title>
  <dc:subject>PptxGenJS Presentation</dc:subject>
  <dc:creator>PptxGenJS</dc:creator>
  <cp:lastModifiedBy>PptxGenJS</cp:lastModifiedBy>
  <cp:revision>1</cp:revision>
  <dcterms:created xsi:type="dcterms:W3CDTF">2026-03-03T14:17:03Z</dcterms:created>
  <dcterms:modified xsi:type="dcterms:W3CDTF">2026-03-03T14:17:03Z</dcterms:modified>
</cp:coreProperties>
</file>